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28838"/>
            <a:ext cx="10515600" cy="26917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6000" b="1" i="0">
                <a:solidFill>
                  <a:srgbClr val="F1F5F9"/>
                </a:solidFill>
                <a:latin typeface="Segoe UI" panose="020B0502040204020203"/>
              </a:rPr>
              <a:t>AI For All</a:t>
            </a:r>
            <a:endParaRPr sz="6000" b="1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F59E0B"/>
                </a:solidFill>
                <a:latin typeface="Segoe UI" panose="020B0502040204020203"/>
              </a:rPr>
              <a:t>An on-device visual assistant that explains what text means —</a:t>
            </a:r>
            <a:endParaRPr sz="2200" b="0" i="0">
              <a:solidFill>
                <a:srgbClr val="F59E0B"/>
              </a:solidFill>
              <a:latin typeface="Segoe UI" panose="020B0502040204020203"/>
            </a:endParaRP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F59E0B"/>
                </a:solidFill>
                <a:latin typeface="Segoe UI" panose="020B0502040204020203"/>
              </a:rPr>
              <a:t>not just a screen reader that reads it aloud.</a:t>
            </a:r>
            <a:endParaRPr sz="2200" b="0" i="0">
              <a:solidFill>
                <a:srgbClr val="F59E0B"/>
              </a:solidFill>
              <a:latin typeface="Segoe UI" panose="020B0502040204020203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Segoe UI" panose="020B0502040204020203"/>
              </a:rPr>
              <a:t>iQOO Hackathon 2026  ·  Chennai City Battles  ·  Working-Professionals track</a:t>
            </a:r>
            <a:endParaRPr sz="1500" b="0" i="0">
              <a:solidFill>
                <a:srgbClr val="94A3B8"/>
              </a:solidFill>
              <a:latin typeface="Segoe UI" panose="020B0502040204020203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Segoe UI" panose="020B0502040204020203"/>
              </a:rPr>
              <a:t>Phase 1 submission </a:t>
            </a:r>
            <a:endParaRPr sz="1500" b="0" i="0">
              <a:solidFill>
                <a:srgbClr val="94A3B8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 panose="020B0502040204020203"/>
              </a:rPr>
              <a:t>THE PROBLEM</a:t>
            </a:r>
            <a:endParaRPr sz="1300" b="1" i="0">
              <a:solidFill>
                <a:srgbClr val="F59E0B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1F5F9"/>
                </a:solidFill>
                <a:latin typeface="Segoe UI" panose="020B0502040204020203"/>
              </a:rPr>
              <a:t>Screen readers transcribe. They don't comprehend.</a:t>
            </a:r>
            <a:endParaRPr sz="3400" b="1" i="0">
              <a:solidFill>
                <a:srgbClr val="F1F5F9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300M+ people worldwide live with vision loss; most low-vision users are older adults on daily medication.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Lookout, Seeing AI and Be My Eyes read the text on a label out loud — and stop there.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"PARACETAMOL IP 650MG" read aloud doesn't tell you it's a fever tablet, that four a day is the ceiling, or that it expired last month.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A government notice becomes four paragraphs of official wording with no idea of what you have to actually do.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 panose="020B0502040204020203"/>
              </a:rPr>
              <a:t>WHAT'S DIFFERENT</a:t>
            </a:r>
            <a:endParaRPr sz="1300" b="1" i="0">
              <a:solidFill>
                <a:srgbClr val="F59E0B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1F5F9"/>
                </a:solidFill>
                <a:latin typeface="Segoe UI" panose="020B0502040204020203"/>
              </a:rPr>
              <a:t>Comprehension, not transcription</a:t>
            </a:r>
            <a:endParaRPr sz="3400" b="1" i="0">
              <a:solidFill>
                <a:srgbClr val="F1F5F9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521208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59E0B"/>
                </a:solidFill>
                <a:latin typeface="Segoe UI" panose="020B0502040204020203"/>
              </a:rPr>
              <a:t>Point at a medicine strip</a:t>
            </a:r>
            <a:endParaRPr sz="1500" b="1" i="0">
              <a:solidFill>
                <a:srgbClr val="F59E0B"/>
              </a:solidFill>
              <a:latin typeface="Segoe UI" panose="020B0502040204020203"/>
            </a:endParaRP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1F5F9"/>
                </a:solidFill>
                <a:latin typeface="Segoe UI" panose="020B0502040204020203"/>
              </a:rPr>
              <a:t>"Crocin 650. Paracetamol, for fever and pain. Maximum four tablets a day. Expires January 2026."</a:t>
            </a:r>
            <a:endParaRPr sz="1700" b="0" i="0">
              <a:solidFill>
                <a:srgbClr val="F1F5F9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09360" y="2286000"/>
            <a:ext cx="50292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59E0B"/>
                </a:solidFill>
                <a:latin typeface="Segoe UI" panose="020B0502040204020203"/>
              </a:rPr>
              <a:t>Point at a ration-shop notice</a:t>
            </a:r>
            <a:endParaRPr sz="1500" b="1" i="0">
              <a:solidFill>
                <a:srgbClr val="F59E0B"/>
              </a:solidFill>
              <a:latin typeface="Segoe UI" panose="020B0502040204020203"/>
            </a:endParaRP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1F5F9"/>
                </a:solidFill>
                <a:latin typeface="Segoe UI" panose="020B0502040204020203"/>
              </a:rPr>
              <a:t>"New ration card applications open September 20. Bring Aadhaar and an income certificate to the office."</a:t>
            </a:r>
            <a:endParaRPr sz="1700" b="0" i="0">
              <a:solidFill>
                <a:srgbClr val="F1F5F9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94A3B8"/>
                </a:solidFill>
                <a:latin typeface="Segoe UI" panose="020B0502040204020203"/>
              </a:rPr>
              <a:t>Reading the label is the easy half. Knowing you must not exceed four tablets is the half that matters.</a:t>
            </a:r>
            <a:endParaRPr sz="1400" b="0" i="1">
              <a:solidFill>
                <a:srgbClr val="94A3B8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 panose="020B0502040204020203"/>
              </a:rPr>
              <a:t>CORE DESIGN DECISION</a:t>
            </a:r>
            <a:endParaRPr sz="1300" b="1" i="0">
              <a:solidFill>
                <a:srgbClr val="F59E0B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1F5F9"/>
                </a:solidFill>
                <a:latin typeface="Segoe UI" panose="020B0502040204020203"/>
              </a:rPr>
              <a:t>Two stages from a single capture</a:t>
            </a:r>
            <a:endParaRPr sz="3400" b="1" i="0">
              <a:solidFill>
                <a:srgbClr val="F1F5F9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521208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Segoe UI" panose="020B0502040204020203"/>
              </a:rPr>
              <a:t>FAST PATH</a:t>
            </a:r>
            <a:endParaRPr sz="1400" b="1" i="0">
              <a:solidFill>
                <a:srgbClr val="F59E0B"/>
              </a:solidFill>
              <a:latin typeface="Segoe UI" panose="020B0502040204020203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1F5F9"/>
                </a:solidFill>
                <a:latin typeface="Segoe UI" panose="020B0502040204020203"/>
              </a:rPr>
              <a:t>ML Kit OCR — on-device, bundled</a:t>
            </a:r>
            <a:endParaRPr sz="15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94A3B8"/>
                </a:solidFill>
                <a:latin typeface="Segoe UI" panose="020B0502040204020203"/>
              </a:rPr>
              <a:t>~100–300 ms</a:t>
            </a:r>
            <a:endParaRPr sz="1500" b="0" i="0">
              <a:solidFill>
                <a:srgbClr val="94A3B8"/>
              </a:solidFill>
              <a:latin typeface="Segoe UI" panose="020B0502040204020203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94A3B8"/>
                </a:solidFill>
                <a:latin typeface="Segoe UI" panose="020B0502040204020203"/>
              </a:rPr>
              <a:t>Speaks immediately:</a:t>
            </a:r>
            <a:endParaRPr sz="1300" b="0" i="0">
              <a:solidFill>
                <a:srgbClr val="94A3B8"/>
              </a:solidFill>
              <a:latin typeface="Segoe UI" panose="020B0502040204020203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1F5F9"/>
                </a:solidFill>
                <a:latin typeface="Segoe UI" panose="020B0502040204020203"/>
              </a:rPr>
              <a:t>"Crocin 650mg, expiry 01/2026."</a:t>
            </a:r>
            <a:endParaRPr sz="1500" b="0" i="0">
              <a:solidFill>
                <a:srgbClr val="F1F5F9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09360" y="2286000"/>
            <a:ext cx="502920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Segoe UI" panose="020B0502040204020203"/>
              </a:rPr>
              <a:t>SLOW PATH</a:t>
            </a:r>
            <a:endParaRPr sz="1400" b="1" i="0">
              <a:solidFill>
                <a:srgbClr val="F59E0B"/>
              </a:solidFill>
              <a:latin typeface="Segoe UI" panose="020B0502040204020203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1F5F9"/>
                </a:solidFill>
                <a:latin typeface="Segoe UI" panose="020B0502040204020203"/>
              </a:rPr>
              <a:t>LLM — Gemini now, Gemma 2B on-device at the event</a:t>
            </a:r>
            <a:endParaRPr sz="15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94A3B8"/>
                </a:solidFill>
                <a:latin typeface="Segoe UI" panose="020B0502040204020203"/>
              </a:rPr>
              <a:t>2–6 s, streamed sentence by sentence</a:t>
            </a:r>
            <a:endParaRPr sz="1500" b="0" i="0">
              <a:solidFill>
                <a:srgbClr val="94A3B8"/>
              </a:solidFill>
              <a:latin typeface="Segoe UI" panose="020B0502040204020203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94A3B8"/>
                </a:solidFill>
                <a:latin typeface="Segoe UI" panose="020B0502040204020203"/>
              </a:rPr>
              <a:t>Continues:</a:t>
            </a:r>
            <a:endParaRPr sz="1300" b="0" i="0">
              <a:solidFill>
                <a:srgbClr val="94A3B8"/>
              </a:solidFill>
              <a:latin typeface="Segoe UI" panose="020B0502040204020203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1F5F9"/>
                </a:solidFill>
                <a:latin typeface="Segoe UI" panose="020B0502040204020203"/>
              </a:rPr>
              <a:t>"Paracetamol, for fever. Max four a day…"</a:t>
            </a:r>
            <a:endParaRPr sz="1500" b="0" i="0">
              <a:solidFill>
                <a:srgbClr val="F1F5F9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94A3B8"/>
                </a:solidFill>
                <a:latin typeface="Segoe UI" panose="020B0502040204020203"/>
              </a:rPr>
              <a:t>One big multimodal model = 8–15 s of silence and a single point of failure. Two paths remove both.</a:t>
            </a:r>
            <a:endParaRPr sz="1400" b="0" i="1">
              <a:solidFill>
                <a:srgbClr val="94A3B8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 panose="020B0502040204020203"/>
              </a:rPr>
              <a:t>WHY TWO STAGES WIN</a:t>
            </a:r>
            <a:endParaRPr sz="1300" b="1" i="0">
              <a:solidFill>
                <a:srgbClr val="F59E0B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1F5F9"/>
                </a:solidFill>
                <a:latin typeface="Segoe UI" panose="020B0502040204020203"/>
              </a:rPr>
              <a:t>The demo cannot go silent</a:t>
            </a:r>
            <a:endParaRPr sz="3400" b="1" i="0">
              <a:solidFill>
                <a:srgbClr val="F1F5F9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First audio in under a second — the app always feels instant.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It has a floor: if the LLM stalls, crashes or runs out of memory, OCR has already spoken the answer.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LLM slower than ~6 s → a rule-based template speaks over the OCR text and we move on.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Volume-Down always re-speaks the last answer — manual recovery at any moment.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Answers are cached by image hash, so a repeat capture is instant.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 panose="020B0502040204020203"/>
              </a:rPr>
              <a:t>INTERACTION</a:t>
            </a:r>
            <a:endParaRPr sz="1300" b="1" i="0">
              <a:solidFill>
                <a:srgbClr val="F59E0B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1F5F9"/>
                </a:solidFill>
                <a:latin typeface="Segoe UI" panose="020B0502040204020203"/>
              </a:rPr>
              <a:t>Blind-first — nothing depends on seeing a control</a:t>
            </a:r>
            <a:endParaRPr sz="3400" b="1" i="0">
              <a:solidFill>
                <a:srgbClr val="F1F5F9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Tap anywhere on the viewfinder  →  capture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Volume Up  →  capture      Volume Down  →  repeat last answer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Swipe left / right  →  change mode, with spoken confirmation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Hold the power button  →  opens the app (registered as an Android ASSIST provider)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Full TalkBack semantics on every control; every action confirms by haptic and voice.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On launch: "AI For All ready. Tap anywhere to read something."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 panose="020B0502040204020203"/>
              </a:rPr>
              <a:t>HONESTY ABOUT WHAT RUNS WHERE</a:t>
            </a:r>
            <a:endParaRPr sz="1300" b="1" i="0">
              <a:solidFill>
                <a:srgbClr val="F59E0B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1F5F9"/>
                </a:solidFill>
                <a:latin typeface="Segoe UI" panose="020B0502040204020203"/>
              </a:rPr>
              <a:t>This submission is the cloud prototype</a:t>
            </a:r>
            <a:endParaRPr sz="3400" b="1" i="0">
              <a:solidFill>
                <a:srgbClr val="F1F5F9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521208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Segoe UI" panose="020B0502040204020203"/>
              </a:rPr>
              <a:t>PHASE 1 — NOW</a:t>
            </a:r>
            <a:endParaRPr sz="1400" b="1" i="0">
              <a:solidFill>
                <a:srgbClr val="F59E0B"/>
              </a:solidFill>
              <a:latin typeface="Segoe UI" panose="020B0502040204020203"/>
            </a:endParaRP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Segoe UI" panose="020B0502040204020203"/>
              </a:rPr>
              <a:t>Cloud Gemini inference</a:t>
            </a:r>
            <a:endParaRPr sz="16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Segoe UI" panose="020B0502040204020203"/>
              </a:rPr>
              <a:t>Proves the flow and the UX. No offline claims are made in this video.</a:t>
            </a:r>
            <a:endParaRPr sz="1400" b="0" i="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09360" y="2286000"/>
            <a:ext cx="502920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Segoe UI" panose="020B0502040204020203"/>
              </a:rPr>
              <a:t>EVENT — SEPT 12–13</a:t>
            </a:r>
            <a:endParaRPr sz="1400" b="1" i="0">
              <a:solidFill>
                <a:srgbClr val="F59E0B"/>
              </a:solidFill>
              <a:latin typeface="Segoe UI" panose="020B0502040204020203"/>
            </a:endParaRP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Segoe UI" panose="020B0502040204020203"/>
              </a:rPr>
              <a:t>On-device ML Kit OCR + Gemma 2B</a:t>
            </a:r>
            <a:endParaRPr sz="16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Segoe UI" panose="020B0502040204020203"/>
              </a:rPr>
              <a:t>The graded version. Airplane mode on stage.</a:t>
            </a:r>
            <a:endParaRPr sz="1400" b="0" i="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94A3B8"/>
                </a:solidFill>
                <a:latin typeface="Segoe UI" panose="020B0502040204020203"/>
              </a:rPr>
              <a:t>The offline claim becomes true at the event — and only after the Sept 4 spike confirms it.</a:t>
            </a:r>
            <a:endParaRPr sz="1400" b="0" i="1">
              <a:solidFill>
                <a:srgbClr val="94A3B8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 panose="020B0502040204020203"/>
              </a:rPr>
              <a:t>ROAD TO THE EVENT</a:t>
            </a:r>
            <a:endParaRPr sz="1300" b="1" i="0">
              <a:solidFill>
                <a:srgbClr val="F59E0B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1F5F9"/>
                </a:solidFill>
                <a:latin typeface="Segoe UI" panose="020B0502040204020203"/>
              </a:rPr>
              <a:t>Measure, don't assume — Sept 4 spike</a:t>
            </a:r>
            <a:endParaRPr sz="3400" b="1" i="0">
              <a:solidFill>
                <a:srgbClr val="F1F5F9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Does flutter_gemma place Gemma 2B on the Hexagon NPU, or silently fall back to GPU/CPU?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Benchmark NPU / GPU / CPU latency — NNAPI has been measured slower than CPU on some chipsets.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ML Kit OCR accuracy on a real medicine strip (foil glare, ~6 pt type) and a printed notice.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Peak RAM with the model loaded and the camera pipeline running.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Segoe UI" panose="020B0502040204020203"/>
              </a:rPr>
              <a:t>•  Fallback ladder: Gemma 2B → Phi-3-mini → SmolVLM-500M → pure OCR + templates (still a working product).</a:t>
            </a:r>
            <a:endParaRPr sz="1800" b="0" i="0">
              <a:solidFill>
                <a:srgbClr val="F1F5F9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 panose="020B0502040204020203"/>
              </a:rPr>
              <a:t>HOW IT MAPS TO JUDGING</a:t>
            </a:r>
            <a:endParaRPr sz="1300" b="1" i="0">
              <a:solidFill>
                <a:srgbClr val="F59E0B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1F5F9"/>
                </a:solidFill>
                <a:latin typeface="Segoe UI" panose="020B0502040204020203"/>
              </a:rPr>
              <a:t>Judging criteria</a:t>
            </a:r>
            <a:endParaRPr sz="3400" b="1" i="0">
              <a:solidFill>
                <a:srgbClr val="F1F5F9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F1F5F9"/>
                </a:solidFill>
                <a:latin typeface="Segoe UI" panose="020B0502040204020203"/>
              </a:rPr>
              <a:t>•  End-product quality (30%) — two-stage architecture with a guaranteed floor; small scope, finished.</a:t>
            </a:r>
            <a:endParaRPr sz="16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F1F5F9"/>
                </a:solidFill>
                <a:latin typeface="Segoe UI" panose="020B0502040204020203"/>
              </a:rPr>
              <a:t>•  Novelty &amp; impact (20%) — explains rather than reads: dosage ceiling, expiry, what a notice requires.</a:t>
            </a:r>
            <a:endParaRPr sz="16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F1F5F9"/>
                </a:solidFill>
                <a:latin typeface="Segoe UI" panose="020B0502040204020203"/>
              </a:rPr>
              <a:t>•  Creative phone use (15%) — volume keys, ASSIST launch, shake-to-repeat, torch, haptics, camera, mic, GPS.</a:t>
            </a:r>
            <a:endParaRPr sz="16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F1F5F9"/>
                </a:solidFill>
                <a:latin typeface="Segoe UI" panose="020B0502040204020203"/>
              </a:rPr>
              <a:t>•  Technical depth (15%) — on-device OCR + LLM pipeline, streaming TTS, timeout / fallback design, NPU benchmarking.</a:t>
            </a:r>
            <a:endParaRPr sz="16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F1F5F9"/>
                </a:solidFill>
                <a:latin typeface="Segoe UI" panose="020B0502040204020203"/>
              </a:rPr>
              <a:t>•  Office Kit (10%) — screen-mirror, shared clipboard, file transfer, remote control used throughout the build.</a:t>
            </a:r>
            <a:endParaRPr sz="1600" b="0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F1F5F9"/>
                </a:solidFill>
                <a:latin typeface="Segoe UI" panose="020B0502040204020203"/>
              </a:rPr>
              <a:t>•  Demo &amp; presentation (10%) — airplane mode, high-stakes objects, rehearsed failure recovery.</a:t>
            </a:r>
            <a:endParaRPr sz="1600" b="0" i="0">
              <a:solidFill>
                <a:srgbClr val="F1F5F9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1F5F9"/>
                </a:solidFill>
                <a:latin typeface="Segoe UI" panose="020B0502040204020203"/>
              </a:rPr>
              <a:t>It doesn't just read the label.</a:t>
            </a:r>
            <a:endParaRPr sz="3400" b="1" i="0">
              <a:solidFill>
                <a:srgbClr val="F1F5F9"/>
              </a:solidFill>
              <a:latin typeface="Segoe UI" panose="020B0502040204020203"/>
            </a:endParaRPr>
          </a:p>
          <a:p>
            <a:pPr algn="l">
              <a:spcAft>
                <a:spcPts val="2000"/>
              </a:spcAft>
            </a:pPr>
            <a:r>
              <a:rPr sz="3400" b="1" i="0">
                <a:solidFill>
                  <a:srgbClr val="F59E0B"/>
                </a:solidFill>
                <a:latin typeface="Segoe UI" panose="020B0502040204020203"/>
              </a:rPr>
              <a:t>It tells you what the label means.</a:t>
            </a:r>
            <a:endParaRPr sz="3400" b="1" i="0">
              <a:solidFill>
                <a:srgbClr val="F59E0B"/>
              </a:solidFill>
              <a:latin typeface="Segoe UI" panose="020B0502040204020203"/>
            </a:endParaRP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Segoe UI" panose="020B0502040204020203"/>
              </a:rPr>
              <a:t>On a phone someone already owns. No cloud, no Wi-Fi, no subscription — so it works anywhere.</a:t>
            </a:r>
            <a:endParaRPr sz="1600" b="0" i="0">
              <a:solidFill>
                <a:srgbClr val="94A3B8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4117</Words>
  <Application>WPS Presentation</Application>
  <PresentationFormat>On-screen Show (4:3)</PresentationFormat>
  <Paragraphs>105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Arial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harsha lekkala</cp:lastModifiedBy>
  <cp:revision>2</cp:revision>
  <dcterms:created xsi:type="dcterms:W3CDTF">2013-01-27T09:14:00Z</dcterms:created>
  <dcterms:modified xsi:type="dcterms:W3CDTF">2026-09-04T07:06:32Z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A1C39BCF60F54C9A8899512396EC56CA_12</vt:lpwstr>
  </property>
  <property fmtid="{D5CDD505-2E9C-101B-9397-08002B2CF9AE}" pid="3" name="KSOProductBuildVer">
    <vt:lpwstr>2057-12.2.0.23206</vt:lpwstr>
  </property>
</Properties>
</file>