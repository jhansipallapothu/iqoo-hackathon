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0"/>
              </a:spcAft>
            </a:pPr>
            <a:r>
              <a:rPr sz="5800" b="1" i="0">
                <a:solidFill>
                  <a:srgbClr val="F1F5F9"/>
                </a:solidFill>
                <a:latin typeface="Segoe UI"/>
              </a:rPr>
              <a:t>AI For All</a:t>
            </a:r>
          </a:p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F59E0B"/>
                </a:solidFill>
                <a:latin typeface="Segoe UI"/>
              </a:rPr>
              <a:t>An offline assistant for blind, low-vision and elderly people —</a:t>
            </a:r>
          </a:p>
          <a:p>
            <a:pPr algn="l">
              <a:spcAft>
                <a:spcPts val="2000"/>
              </a:spcAft>
            </a:pPr>
            <a:r>
              <a:rPr sz="2200" b="0" i="0">
                <a:solidFill>
                  <a:srgbClr val="F59E0B"/>
                </a:solidFill>
                <a:latin typeface="Segoe UI"/>
              </a:rPr>
              <a:t>it reads printed text, explains what it means, and warns about scams.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94A3B8"/>
                </a:solidFill>
                <a:latin typeface="Segoe UI"/>
              </a:rPr>
              <a:t>iQOO Hackathon 2026  ·  Chennai City Battles  ·  Working-Professionals track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94A3B8"/>
                </a:solidFill>
                <a:latin typeface="Segoe UI"/>
              </a:rPr>
              <a:t>Phase 1 submission — cloud prototype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59E0B"/>
                </a:solidFill>
                <a:latin typeface="Segoe UI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1F5F9"/>
                </a:solidFill>
                <a:latin typeface="Segoe UI"/>
              </a:rPr>
              <a:t>Who this is for, and the daily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5156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 b="0" i="0">
                <a:solidFill>
                  <a:srgbClr val="F1F5F9"/>
                </a:solidFill>
                <a:latin typeface="Segoe UI"/>
              </a:rPr>
              <a:t>•  Primary users: blind and low-vision people. Same flow serves elderly and low-literacy users at no extra build.</a:t>
            </a:r>
          </a:p>
          <a:p>
            <a:pPr algn="l">
              <a:spcAft>
                <a:spcPts val="1300"/>
              </a:spcAft>
            </a:pPr>
            <a:r>
              <a:rPr sz="1800" b="0" i="0">
                <a:solidFill>
                  <a:srgbClr val="F1F5F9"/>
                </a:solidFill>
                <a:latin typeface="Segoe UI"/>
              </a:rPr>
              <a:t>•  Their day is full of printed text they cannot read: medicine strips, utility bills, government notices, SMS.</a:t>
            </a:r>
          </a:p>
          <a:p>
            <a:pPr algn="l">
              <a:spcAft>
                <a:spcPts val="1300"/>
              </a:spcAft>
            </a:pPr>
            <a:r>
              <a:rPr sz="1800" b="0" i="0">
                <a:solidFill>
                  <a:srgbClr val="F1F5F9"/>
                </a:solidFill>
                <a:latin typeface="Segoe UI"/>
              </a:rPr>
              <a:t>•  Today they hand these to a sighted relative — or a cloud app — to find out what they say. Every time, a loss of privacy and independence.</a:t>
            </a:r>
          </a:p>
          <a:p>
            <a:pPr algn="l">
              <a:spcAft>
                <a:spcPts val="1300"/>
              </a:spcAft>
            </a:pPr>
            <a:r>
              <a:rPr sz="1800" b="0" i="0">
                <a:solidFill>
                  <a:srgbClr val="F1F5F9"/>
                </a:solidFill>
                <a:latin typeface="Segoe UI"/>
              </a:rPr>
              <a:t>•  They are also the group SMS scams target hardest: fake bank alerts, OTP phishing, "KYC expired, click here".</a:t>
            </a:r>
          </a:p>
          <a:p>
            <a:pPr algn="l">
              <a:spcAft>
                <a:spcPts val="1300"/>
              </a:spcAft>
            </a:pPr>
            <a:r>
              <a:rPr sz="1800" b="0" i="0">
                <a:solidFill>
                  <a:srgbClr val="F1F5F9"/>
                </a:solidFill>
                <a:latin typeface="Segoe UI"/>
              </a:rPr>
              <a:t>•  In a village with no signal, nothing on the phone helps them at all.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59E0B"/>
                </a:solidFill>
                <a:latin typeface="Segoe UI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1F5F9"/>
                </a:solidFill>
                <a:latin typeface="Segoe UI"/>
              </a:rPr>
              <a:t>Reading the words is not the hard part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94560"/>
            <a:ext cx="1051560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F1F5F9"/>
                </a:solidFill>
                <a:latin typeface="Segoe UI"/>
              </a:rPr>
              <a:t>Existing apps (Lookout, Seeing AI, Be My Eyes) read text aloud — and stop there. "PARACETAMOL IP 650MG" spoken back does not tell you it is a fever tablet, that four a day is the ceiling, or that it expired last month.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5156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100"/>
              </a:spcAft>
            </a:pPr>
            <a:r>
              <a:rPr sz="1700" b="0" i="0">
                <a:solidFill>
                  <a:srgbClr val="F1F5F9"/>
                </a:solidFill>
                <a:latin typeface="Segoe UI"/>
              </a:rPr>
              <a:t>•  Blind and elderly users need to know what a document MEANS and what to DO — not just what it says.</a:t>
            </a:r>
          </a:p>
          <a:p>
            <a:pPr algn="l">
              <a:spcAft>
                <a:spcPts val="1100"/>
              </a:spcAft>
            </a:pPr>
            <a:r>
              <a:rPr sz="1700" b="0" i="0">
                <a:solidFill>
                  <a:srgbClr val="F1F5F9"/>
                </a:solidFill>
                <a:latin typeface="Segoe UI"/>
              </a:rPr>
              <a:t>•  They need it to work with no internet, and without their private documents leaving the phone.</a:t>
            </a:r>
          </a:p>
          <a:p>
            <a:pPr algn="l">
              <a:spcAft>
                <a:spcPts val="1100"/>
              </a:spcAft>
            </a:pPr>
            <a:r>
              <a:rPr sz="1700" b="0" i="0">
                <a:solidFill>
                  <a:srgbClr val="F1F5F9"/>
                </a:solidFill>
                <a:latin typeface="Segoe UI"/>
              </a:rPr>
              <a:t>•  They need to be warned before acting on a scam message — not after.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59E0B"/>
                </a:solidFill>
                <a:latin typeface="Segoe UI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1F5F9"/>
                </a:solidFill>
                <a:latin typeface="Segoe UI"/>
              </a:rPr>
              <a:t>On-device: read → explain → warn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94560"/>
            <a:ext cx="3291840" cy="3566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F59E0B"/>
                </a:solidFill>
                <a:latin typeface="Segoe UI"/>
              </a:rPr>
              <a:t>READ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1F5F9"/>
                </a:solidFill>
                <a:latin typeface="Segoe UI"/>
              </a:rPr>
              <a:t>ML Kit OCR pulls the text off the strip / bill / notice in ~100–300 ms and speaks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43400" y="2194560"/>
            <a:ext cx="3291840" cy="3566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F59E0B"/>
                </a:solidFill>
                <a:latin typeface="Segoe UI"/>
              </a:rPr>
              <a:t>EXPLAIN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1F5F9"/>
                </a:solidFill>
                <a:latin typeface="Segoe UI"/>
              </a:rPr>
              <a:t>A small language model turns it into 2–3 spoken sentences: the dose limit, the amount owed, the action a notice requires.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0" y="2194560"/>
            <a:ext cx="3520440" cy="3566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F59E0B"/>
                </a:solidFill>
                <a:latin typeface="Segoe UI"/>
              </a:rPr>
              <a:t>WARN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1F5F9"/>
                </a:solidFill>
                <a:latin typeface="Segoe UI"/>
              </a:rPr>
              <a:t>Offline rules screen every SMS. A likely scam is announced first; the risky link and OTP code are not read aloud.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436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94A3B8"/>
                </a:solidFill>
                <a:latin typeface="Segoe UI"/>
              </a:rPr>
              <a:t>Everything runs on the phone. No cloud, no Wi-Fi, no subscription — private by default, and works anywhere.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59E0B"/>
                </a:solidFill>
                <a:latin typeface="Segoe UI"/>
              </a:rPr>
              <a:t>FEATURES — HOW IT HELPS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1F5F9"/>
                </a:solidFill>
                <a:latin typeface="Segoe UI"/>
              </a:rPr>
              <a:t>One capture, or one tap, does the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60704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 i="0">
                <a:solidFill>
                  <a:srgbClr val="F59E0B"/>
                </a:solidFill>
                <a:latin typeface="Segoe UI"/>
              </a:rPr>
              <a:t>Read &amp; Explain</a:t>
            </a:r>
          </a:p>
          <a:p>
            <a:pPr algn="l">
              <a:spcAft>
                <a:spcPts val="1000"/>
              </a:spcAft>
            </a:pPr>
            <a:r>
              <a:rPr sz="1350" b="0" i="0">
                <a:solidFill>
                  <a:srgbClr val="94A3B8"/>
                </a:solidFill>
                <a:latin typeface="Segoe UI"/>
              </a:rPr>
              <a:t>Medicine, bills, notices, forms. Speaks the meaning and the next action, not just the text.</a:t>
            </a:r>
          </a:p>
          <a:p>
            <a:pPr algn="l">
              <a:spcAft>
                <a:spcPts val="100"/>
              </a:spcAft>
            </a:pPr>
            <a:r>
              <a:rPr sz="1600" b="1" i="0">
                <a:solidFill>
                  <a:srgbClr val="F59E0B"/>
                </a:solidFill>
                <a:latin typeface="Segoe UI"/>
              </a:rPr>
              <a:t>Pay this bill</a:t>
            </a:r>
          </a:p>
          <a:p>
            <a:pPr algn="l">
              <a:spcAft>
                <a:spcPts val="1000"/>
              </a:spcAft>
            </a:pPr>
            <a:r>
              <a:rPr sz="1350" b="0" i="0">
                <a:solidFill>
                  <a:srgbClr val="94A3B8"/>
                </a:solidFill>
                <a:latin typeface="Segoe UI"/>
              </a:rPr>
              <a:t>If a bill prints a UPI ID, long-press to pay. The user's own UPI app takes the amount + PIN — money never touches our app.</a:t>
            </a:r>
          </a:p>
          <a:p>
            <a:pPr algn="l">
              <a:spcAft>
                <a:spcPts val="100"/>
              </a:spcAft>
            </a:pPr>
            <a:r>
              <a:rPr sz="1600" b="1" i="0">
                <a:solidFill>
                  <a:srgbClr val="F59E0B"/>
                </a:solidFill>
                <a:latin typeface="Segoe UI"/>
              </a:rPr>
              <a:t>Message assistant</a:t>
            </a:r>
          </a:p>
          <a:p>
            <a:pPr algn="l">
              <a:spcAft>
                <a:spcPts val="1000"/>
              </a:spcAft>
            </a:pPr>
            <a:r>
              <a:rPr sz="1350" b="0" i="0">
                <a:solidFill>
                  <a:srgbClr val="94A3B8"/>
                </a:solidFill>
                <a:latin typeface="Segoe UI"/>
              </a:rPr>
              <a:t>Reads the inbox aloud, tagged OTP / transaction / spam. Double-tap marks a message important; "read important" replays just those.</a:t>
            </a:r>
          </a:p>
          <a:p>
            <a:pPr algn="l">
              <a:spcAft>
                <a:spcPts val="100"/>
              </a:spcAft>
            </a:pPr>
            <a:r>
              <a:rPr sz="1600" b="1" i="0">
                <a:solidFill>
                  <a:srgbClr val="F59E0B"/>
                </a:solidFill>
                <a:latin typeface="Segoe UI"/>
              </a:rPr>
              <a:t>Fraud protection</a:t>
            </a:r>
          </a:p>
          <a:p>
            <a:pPr algn="l">
              <a:spcAft>
                <a:spcPts val="1000"/>
              </a:spcAft>
            </a:pPr>
            <a:r>
              <a:rPr sz="1350" b="0" i="0">
                <a:solidFill>
                  <a:srgbClr val="94A3B8"/>
                </a:solidFill>
                <a:latin typeface="Segoe UI"/>
              </a:rPr>
              <a:t>Offline scam detection on every SMS. Danger messages are announced as a warning first; the link and code are withheld.</a:t>
            </a:r>
          </a:p>
          <a:p>
            <a:pPr algn="l">
              <a:spcAft>
                <a:spcPts val="100"/>
              </a:spcAft>
            </a:pPr>
            <a:r>
              <a:rPr sz="1600" b="1" i="0">
                <a:solidFill>
                  <a:srgbClr val="F59E0B"/>
                </a:solidFill>
                <a:latin typeface="Segoe UI"/>
              </a:rPr>
              <a:t>Explore</a:t>
            </a:r>
          </a:p>
          <a:p>
            <a:pPr algn="l">
              <a:spcAft>
                <a:spcPts val="1000"/>
              </a:spcAft>
            </a:pPr>
            <a:r>
              <a:rPr sz="1350" b="0" i="0">
                <a:solidFill>
                  <a:srgbClr val="94A3B8"/>
                </a:solidFill>
                <a:latin typeface="Segoe UI"/>
              </a:rPr>
              <a:t>Point the camera and ask "what is in my hand?" — general scene description. (Cloud in this prototype.)</a:t>
            </a:r>
          </a:p>
          <a:p>
            <a:pPr algn="l">
              <a:spcAft>
                <a:spcPts val="100"/>
              </a:spcAft>
            </a:pPr>
            <a:r>
              <a:rPr sz="1600" b="1" i="0">
                <a:solidFill>
                  <a:srgbClr val="F59E0B"/>
                </a:solidFill>
                <a:latin typeface="Segoe UI"/>
              </a:rPr>
              <a:t>Blind-first controls</a:t>
            </a:r>
          </a:p>
          <a:p>
            <a:pPr algn="l">
              <a:spcAft>
                <a:spcPts val="1000"/>
              </a:spcAft>
            </a:pPr>
            <a:r>
              <a:rPr sz="1350" b="0" i="0">
                <a:solidFill>
                  <a:srgbClr val="94A3B8"/>
                </a:solidFill>
                <a:latin typeface="Segoe UI"/>
              </a:rPr>
              <a:t>Power-button launch, tap / Volume-Up to capture, Volume-Down to repeat, swipe to switch mode, long-press for emergency. Every action confirms by voice + haptic.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59E0B"/>
                </a:solidFill>
                <a:latin typeface="Segoe U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1F5F9"/>
                </a:solidFill>
                <a:latin typeface="Segoe UI"/>
              </a:rPr>
              <a:t>Two stages from one capture — with a floor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94560"/>
            <a:ext cx="521208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59E0B"/>
                </a:solidFill>
                <a:latin typeface="Segoe UI"/>
              </a:rPr>
              <a:t>FAST PATH — ML Kit OCR, on-device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1F5F9"/>
                </a:solidFill>
                <a:latin typeface="Segoe UI"/>
              </a:rPr>
              <a:t>~100–300 ms. Speaks the raw text immediately: "Crocin 650mg, expiry 01/2026."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2194560"/>
            <a:ext cx="502920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59E0B"/>
                </a:solidFill>
                <a:latin typeface="Segoe UI"/>
              </a:rPr>
              <a:t>SLOW PATH — language model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1F5F9"/>
                </a:solidFill>
                <a:latin typeface="Segoe UI"/>
              </a:rPr>
              <a:t>2–6 s, streamed sentence by sentence: "Paracetamol, for fever. Max four a day…"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532120"/>
            <a:ext cx="105156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F1F5F9"/>
                </a:solidFill>
                <a:latin typeface="Segoe UI"/>
              </a:rPr>
              <a:t>•  First audio in under a second — the app always feels instant.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F1F5F9"/>
                </a:solidFill>
                <a:latin typeface="Segoe UI"/>
              </a:rPr>
              <a:t>•  If the model stalls, crashes or OOMs, OCR has already spoken the answer. The demo cannot go silent.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F1F5F9"/>
                </a:solidFill>
                <a:latin typeface="Segoe UI"/>
              </a:rPr>
              <a:t>•  Model slower than ~6 s → a rule-based template speaks over the OCR text. Volume-Down always repeats the last answer.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59E0B"/>
                </a:solidFill>
                <a:latin typeface="Segoe UI"/>
              </a:rP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1F5F9"/>
                </a:solidFill>
                <a:latin typeface="Segoe UI"/>
              </a:rPr>
              <a:t>What it's built with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5156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50" b="0" i="0">
                <a:solidFill>
                  <a:srgbClr val="F1F5F9"/>
                </a:solidFill>
                <a:latin typeface="Segoe UI"/>
              </a:rPr>
              <a:t>•  App: Flutter (Dart), single codebase, Android target for the iQOO.</a:t>
            </a:r>
          </a:p>
          <a:p>
            <a:pPr algn="l">
              <a:spcAft>
                <a:spcPts val="1000"/>
              </a:spcAft>
            </a:pPr>
            <a:r>
              <a:rPr sz="1550" b="0" i="0">
                <a:solidFill>
                  <a:srgbClr val="F1F5F9"/>
                </a:solidFill>
                <a:latin typeface="Segoe UI"/>
              </a:rPr>
              <a:t>•  Text: Google ML Kit on-device text recognition — bundled, no network.</a:t>
            </a:r>
          </a:p>
          <a:p>
            <a:pPr algn="l">
              <a:spcAft>
                <a:spcPts val="1000"/>
              </a:spcAft>
            </a:pPr>
            <a:r>
              <a:rPr sz="1550" b="0" i="0">
                <a:solidFill>
                  <a:srgbClr val="F1F5F9"/>
                </a:solidFill>
                <a:latin typeface="Segoe UI"/>
              </a:rPr>
              <a:t>•  Explanation: Gemma 2B via flutter_gemma on-device at the event; cloud Gemini in this prototype. Pluggable behind one seam.</a:t>
            </a:r>
          </a:p>
          <a:p>
            <a:pPr algn="l">
              <a:spcAft>
                <a:spcPts val="1000"/>
              </a:spcAft>
            </a:pPr>
            <a:r>
              <a:rPr sz="1550" b="0" i="0">
                <a:solidFill>
                  <a:srgbClr val="F1F5F9"/>
                </a:solidFill>
                <a:latin typeface="Segoe UI"/>
              </a:rPr>
              <a:t>•  Speech: flutter_tts, one central voice config (rate / pitch / en-US), streamed so speech starts on the first sentence.</a:t>
            </a:r>
          </a:p>
          <a:p>
            <a:pPr algn="l">
              <a:spcAft>
                <a:spcPts val="1000"/>
              </a:spcAft>
            </a:pPr>
            <a:r>
              <a:rPr sz="1550" b="0" i="0">
                <a:solidFill>
                  <a:srgbClr val="F1F5F9"/>
                </a:solidFill>
                <a:latin typeface="Segoe UI"/>
              </a:rPr>
              <a:t>•  Messages: another_telephony reads the inbox; classification + fraud rules are pure Dart, offline, unit-checked.</a:t>
            </a:r>
          </a:p>
          <a:p>
            <a:pPr algn="l">
              <a:spcAft>
                <a:spcPts val="1000"/>
              </a:spcAft>
            </a:pPr>
            <a:r>
              <a:rPr sz="1550" b="0" i="0">
                <a:solidFill>
                  <a:srgbClr val="F1F5F9"/>
                </a:solidFill>
                <a:latin typeface="Segoe UI"/>
              </a:rPr>
              <a:t>•  Native (Kotlin): volume-rocker capture, power-button ASSIST launch, UPI deep-link, emergency dial — via platform channels.</a:t>
            </a:r>
          </a:p>
          <a:p>
            <a:pPr algn="l">
              <a:spcAft>
                <a:spcPts val="1000"/>
              </a:spcAft>
            </a:pPr>
            <a:r>
              <a:rPr sz="1550" b="0" i="0">
                <a:solidFill>
                  <a:srgbClr val="F1F5F9"/>
                </a:solidFill>
                <a:latin typeface="Segoe UI"/>
              </a:rPr>
              <a:t>•  Fallbacks are rule-based Dart with their own self-checks, so a working product survives any model failure.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59E0B"/>
                </a:solidFill>
                <a:latin typeface="Segoe UI"/>
              </a:rPr>
              <a:t>USING THE IQOO FOR THIS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1F5F9"/>
                </a:solidFill>
                <a:latin typeface="Segoe UI"/>
              </a:rPr>
              <a:t>Why the on-device model is the point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03120"/>
            <a:ext cx="521208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F59E0B"/>
                </a:solidFill>
                <a:latin typeface="Segoe UI"/>
              </a:rPr>
              <a:t>THE HARDWARE DOES THE WORK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F1F5F9"/>
                </a:solidFill>
                <a:latin typeface="Segoe UI"/>
              </a:rPr>
              <a:t>Snapdragon NPU / Hexagon runs Gemma 2B; 12–16 GB RAM holds the model + the camera pipeline together.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1F5F9"/>
                </a:solidFill>
                <a:latin typeface="Segoe UI"/>
              </a:rPr>
              <a:t>Power-button hold = launch (ASSIST provider). Volume keys = capture / repeat. Camera + torch, mic, haptics, GPS — all used, all measured.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2103120"/>
            <a:ext cx="502920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F59E0B"/>
                </a:solidFill>
                <a:latin typeface="Segoe UI"/>
              </a:rPr>
              <a:t>WHY ON-DEVICE, NOT CLOUD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1F5F9"/>
                </a:solidFill>
                <a:latin typeface="Segoe UI"/>
              </a:rPr>
              <a:t>Private: a medicine strip or bank letter never leaves the phone.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1F5F9"/>
                </a:solidFill>
                <a:latin typeface="Segoe UI"/>
              </a:rPr>
              <a:t>Independent: works in airplane mode, on a village network, on a phone the user already owns.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1F5F9"/>
                </a:solidFill>
                <a:latin typeface="Segoe UI"/>
              </a:rPr>
              <a:t>Aligned with the brief: cloud-only LLMs are disfavoured; on-device earns the bonus.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59E0B"/>
                </a:solidFill>
                <a:latin typeface="Segoe UI"/>
              </a:rPr>
              <a:t>HONESTY ABOUT WHAT RUNS WHERE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1F5F9"/>
                </a:solidFill>
                <a:latin typeface="Segoe UI"/>
              </a:rPr>
              <a:t>This submission is the cloud prototype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286000"/>
            <a:ext cx="5212080" cy="3108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F59E0B"/>
                </a:solidFill>
                <a:latin typeface="Segoe UI"/>
              </a:rPr>
              <a:t>PHASE 1 — NOW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1F5F9"/>
                </a:solidFill>
                <a:latin typeface="Segoe UI"/>
              </a:rPr>
              <a:t>Cloud Gemini inference. Proves the flow and the UX. No offline claims are made in this video.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2286000"/>
            <a:ext cx="5029200" cy="3108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59E0B"/>
                </a:solidFill>
                <a:latin typeface="Segoe UI"/>
              </a:rPr>
              <a:t>EVENT — SEPT 12–13</a:t>
            </a:r>
            <a:r>
              <a:rPr sz="1400" b="0" i="1">
                <a:solidFill>
                  <a:srgbClr val="94A3B8"/>
                </a:solidFill>
                <a:latin typeface="Segoe UI"/>
              </a:rPr>
              <a:t>The offline claim becomes true at the event — and only after the Sept 4 spike measures it.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1F5F9"/>
                </a:solidFill>
                <a:latin typeface="Segoe UI"/>
              </a:rPr>
              <a:t>On-device ML Kit + Gemma 2B. The graded version. Airplane mode on stage.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Segoe UI"/>
              </a:rP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59E0B"/>
                </a:solidFill>
                <a:latin typeface="Segoe UI"/>
              </a:rPr>
              <a:t>HOW IT MAPS TO JUDGING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1F5F9"/>
                </a:solidFill>
                <a:latin typeface="Segoe UI"/>
              </a:rPr>
              <a:t>Judging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5156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50" b="0" i="0">
                <a:solidFill>
                  <a:srgbClr val="F1F5F9"/>
                </a:solidFill>
                <a:latin typeface="Segoe UI"/>
              </a:rPr>
              <a:t>•  End-product quality (30%) — two-stage architecture with a guaranteed floor; small scope, finished.</a:t>
            </a:r>
          </a:p>
          <a:p>
            <a:pPr algn="l">
              <a:spcAft>
                <a:spcPts val="1000"/>
              </a:spcAft>
            </a:pPr>
            <a:r>
              <a:rPr sz="1550" b="0" i="0">
                <a:solidFill>
                  <a:srgbClr val="F1F5F9"/>
                </a:solidFill>
                <a:latin typeface="Segoe UI"/>
              </a:rPr>
              <a:t>•  Novelty &amp; impact (20%) — explains rather than reads; offline scam warnings for the users scams target most.</a:t>
            </a:r>
          </a:p>
          <a:p>
            <a:pPr algn="l">
              <a:spcAft>
                <a:spcPts val="1000"/>
              </a:spcAft>
            </a:pPr>
            <a:r>
              <a:rPr sz="1550" b="0" i="0">
                <a:solidFill>
                  <a:srgbClr val="F1F5F9"/>
                </a:solidFill>
                <a:latin typeface="Segoe UI"/>
              </a:rPr>
              <a:t>•  Creative phone use (15%) — volume keys, ASSIST launch, UPI deep link, shake-to-repeat, torch, haptics, camera, mic, GPS.</a:t>
            </a:r>
          </a:p>
          <a:p>
            <a:pPr algn="l">
              <a:spcAft>
                <a:spcPts val="1000"/>
              </a:spcAft>
            </a:pPr>
            <a:r>
              <a:rPr sz="1550" b="0" i="0">
                <a:solidFill>
                  <a:srgbClr val="F1F5F9"/>
                </a:solidFill>
                <a:latin typeface="Segoe UI"/>
              </a:rPr>
              <a:t>•  Technical depth (15%) — on-device OCR + LLM pipeline, streaming TTS, timeout / fallback design, NPU benchmarking.</a:t>
            </a:r>
          </a:p>
          <a:p>
            <a:pPr algn="l">
              <a:spcAft>
                <a:spcPts val="1000"/>
              </a:spcAft>
            </a:pPr>
            <a:r>
              <a:rPr sz="1550" b="0" i="0">
                <a:solidFill>
                  <a:srgbClr val="F1F5F9"/>
                </a:solidFill>
                <a:latin typeface="Segoe UI"/>
              </a:rPr>
              <a:t>•  Office Kit (10%) — screen-mirror, shared clipboard, file transfer, remote control used throughout the build.</a:t>
            </a:r>
          </a:p>
          <a:p>
            <a:pPr algn="l">
              <a:spcAft>
                <a:spcPts val="1000"/>
              </a:spcAft>
            </a:pPr>
            <a:r>
              <a:rPr sz="1550" b="0" i="0">
                <a:solidFill>
                  <a:srgbClr val="F1F5F9"/>
                </a:solidFill>
                <a:latin typeface="Segoe UI"/>
              </a:rPr>
              <a:t>•  Demo &amp; presentation (10%) — airplane mode, high-stakes objects, rehearsed failure recovery.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F1F5F9"/>
                </a:solidFill>
                <a:latin typeface="Segoe UI"/>
              </a:rPr>
              <a:t>It doesn't just read the label.</a:t>
            </a:r>
          </a:p>
          <a:p>
            <a:pPr algn="l">
              <a:spcAft>
                <a:spcPts val="1800"/>
              </a:spcAft>
            </a:pPr>
            <a:r>
              <a:rPr sz="3000" b="1" i="0">
                <a:solidFill>
                  <a:srgbClr val="F59E0B"/>
                </a:solidFill>
                <a:latin typeface="Segoe UI"/>
              </a:rPr>
              <a:t>It tells you what it means — and warns you when something is trying to cheat you.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94A3B8"/>
                </a:solidFill>
                <a:latin typeface="Segoe UI"/>
              </a:rPr>
              <a:t>On a phone someone already owns. No cloud, no Wi-Fi, no subscription — so it works anywhere.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